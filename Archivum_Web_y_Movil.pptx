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Archivum centraliza toda la documentación fiscal de un negocio y permite emitir facturas conformes a la normativa española. Existe como aplicación web y como app móvil para Android e 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valor central es la centralización y la búsqueda. La facturación conforme a normativa es el segundo pilar.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app móvil está hecha con una sola base de código que produce tanto la versión de Android como la de iOS: lo que se desarrolla una vez llega a las 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mensaje operativo más importante: capturar en movilidad, revisar en escritorio.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Inventario, presupuestos y facturación están disponibles en los planes de pago.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matiz es importante para no prometer de más en la comunicación. Lo que existe hoy es la generación conforme de los registros; la conexión en tiempo real con la AEAT está planificada como fase siguiente.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caso de uso es el más comercial: resuelve un momento de dolor real, la revisión trimestral o anual con el asesor.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Inventario, presupuestos y facturación requieren plan de pago. El gratuito sirve para archivar y buscar.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Publicar en Google Play cuesta 25 $ una sola vez; en App Store, 99 $ al año. Ambos trámites son del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ángulos posibles para campañas. El tercero y el cuarto son los más diferenciales frente a alternativas genéricas de almacenamiento.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554480"/>
            <a:ext cx="5669280" cy="5669280"/>
          </a:xfrm>
          <a:prstGeom prst="ellipse">
            <a:avLst/>
          </a:prstGeom>
          <a:solidFill>
            <a:srgbClr val="1B2450"/>
          </a:solidFill>
          <a:ln w="12700">
            <a:solidFill>
              <a:srgbClr val="1B24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4206240"/>
            <a:ext cx="3108960" cy="3108960"/>
          </a:xfrm>
          <a:prstGeom prst="ellipse">
            <a:avLst/>
          </a:prstGeom>
          <a:solidFill>
            <a:srgbClr val="16204A"/>
          </a:solidFill>
          <a:ln w="12700">
            <a:solidFill>
              <a:srgbClr val="16204A"/>
            </a:solidFill>
            <a:prstDash val="solid"/>
          </a:ln>
        </p:spPr>
      </p:sp>
      <p:pic>
        <p:nvPicPr>
          <p:cNvPr id="4" name="Image 0" descr="/home/user/Archivum_Invoice/apps/web/public/logo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1298448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7432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Archivum</a:t>
            </a:r>
            <a:endParaRPr lang="en-US" sz="5800" dirty="0"/>
          </a:p>
        </p:txBody>
      </p:sp>
      <p:sp>
        <p:nvSpPr>
          <p:cNvPr id="6" name="Text 3"/>
          <p:cNvSpPr/>
          <p:nvPr/>
        </p:nvSpPr>
        <p:spPr>
          <a:xfrm>
            <a:off x="640080" y="36576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archivo digital de facturación para pymes y autónomos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40080" y="431596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 en web, Android e iOS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5943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informativo para el equipo de marketing  ·  Agosto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 PARTIDA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problema resuelve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facturas y documentos fiscales de un negocio acaban repartidos entre el correo, carpetas del ordenador, WhatsApp y papel. Cuando llega el trimestre —o una inspección— encontrarlos cuesta horas.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594360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52400" dist="38100" dir="5400000">
              <a:srgbClr val="8494B5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3163824"/>
            <a:ext cx="484632" cy="484632"/>
          </a:xfrm>
          <a:prstGeom prst="ellipse">
            <a:avLst/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116" y="3289828"/>
            <a:ext cx="232623" cy="23262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3108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en un sitio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72768" y="341071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Facturas, albaranes, contratos y nóminas archivados y buscables.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4041648"/>
            <a:ext cx="594360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52400" dist="38100" dir="5400000">
              <a:srgbClr val="8494B5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96112" y="4279392"/>
            <a:ext cx="484632" cy="484632"/>
          </a:xfrm>
          <a:prstGeom prst="ellipse">
            <a:avLst/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116" y="4405396"/>
            <a:ext cx="232623" cy="23262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72768" y="42245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Facturas conformes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572768" y="45262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Emisión con numeración correlativa, huella y QR según Veri*Factu.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5157216"/>
            <a:ext cx="594360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52400" dist="38100" dir="5400000">
              <a:srgbClr val="8494B5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96112" y="5394960"/>
            <a:ext cx="484632" cy="484632"/>
          </a:xfrm>
          <a:prstGeom prst="ellipse">
            <a:avLst/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116" y="5520964"/>
            <a:ext cx="232623" cy="23262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72768" y="534009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controlado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572768" y="564184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persona ve solo los clientes y carpetas que le asignes.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086600" y="1600200"/>
            <a:ext cx="4480560" cy="4315968"/>
          </a:xfrm>
          <a:prstGeom prst="roundRect">
            <a:avLst>
              <a:gd name="adj" fmla="val 2966"/>
            </a:avLst>
          </a:prstGeom>
          <a:solidFill>
            <a:srgbClr val="0E1633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52400" dist="38100" dir="5400000">
              <a:srgbClr val="8494B5">
                <a:alpha val="18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7452360" y="187452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30C0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6200" dirty="0"/>
          </a:p>
        </p:txBody>
      </p:sp>
      <p:sp>
        <p:nvSpPr>
          <p:cNvPr id="22" name="Text 17"/>
          <p:cNvSpPr/>
          <p:nvPr/>
        </p:nvSpPr>
        <p:spPr>
          <a:xfrm>
            <a:off x="7452360" y="29626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documento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7452360" y="3364992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9F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 emitida · Factura recibida · Albarán · Recibo · Orden · Presupuesto · Contrato · Nómina · Documento fiscal · Otro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7452360" y="50292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con su cliente, fechas, importes y estado de cobro.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SE USA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cuenta, tres plataformas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mismos datos, sincronizados al instante. Lo que se archiva desde el móvil aparece en la web, y al revés.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520440" cy="38404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52400" dist="38100" dir="5400000">
              <a:srgbClr val="8494B5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331720"/>
            <a:ext cx="566928" cy="566928"/>
          </a:xfrm>
          <a:prstGeom prst="ellipse">
            <a:avLst/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801" y="247912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27632" y="23774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627632" y="27249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archivum.es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50976" y="324612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escritorio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completa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administración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e impresión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52544" y="2057400"/>
            <a:ext cx="3520440" cy="38404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52400" dist="38100" dir="5400000">
              <a:srgbClr val="8494B5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26864" y="2331720"/>
            <a:ext cx="566928" cy="566928"/>
          </a:xfrm>
          <a:prstGeom prst="ellipse">
            <a:avLst/>
          </a:prstGeom>
          <a:solidFill>
            <a:srgbClr val="2FA37C"/>
          </a:solidFill>
          <a:ln w="12700">
            <a:solidFill>
              <a:srgbClr val="2FA37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4265" y="2479121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0096" y="23774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Android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5340096" y="27249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A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nativa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663440" y="324612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Archivar sobre la marcha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 y galería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claro y oscuro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Mismas funciones clave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065008" y="2057400"/>
            <a:ext cx="3520440" cy="38404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52400" dist="38100" dir="5400000">
              <a:srgbClr val="8494B5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39328" y="2331720"/>
            <a:ext cx="566928" cy="566928"/>
          </a:xfrm>
          <a:prstGeom prst="ellipse">
            <a:avLst/>
          </a:prstGeom>
          <a:solidFill>
            <a:srgbClr val="7A5AF8"/>
          </a:solidFill>
          <a:ln w="12700">
            <a:solidFill>
              <a:srgbClr val="7A5AF8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729" y="2479121"/>
            <a:ext cx="272125" cy="27212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052560" y="23774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iOS</a:t>
            </a:r>
            <a:endParaRPr lang="en-US" sz="2100" dirty="0"/>
          </a:p>
        </p:txBody>
      </p:sp>
      <p:sp>
        <p:nvSpPr>
          <p:cNvPr id="21" name="Text 16"/>
          <p:cNvSpPr/>
          <p:nvPr/>
        </p:nvSpPr>
        <p:spPr>
          <a:xfrm>
            <a:off x="9052560" y="27249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nativa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375904" y="324612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código que Android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adaptado a iPhone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Preparada para App Store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de publicación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DIARIO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usa, de principio a fin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15184" cy="3200400"/>
          </a:xfrm>
          <a:prstGeom prst="roundRect">
            <a:avLst>
              <a:gd name="adj" fmla="val 4895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52400" dist="38100" dir="5400000">
              <a:srgbClr val="8494B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73352" y="2240280"/>
            <a:ext cx="548640" cy="548640"/>
          </a:xfrm>
          <a:prstGeom prst="ellipse">
            <a:avLst/>
          </a:prstGeom>
          <a:solidFill>
            <a:srgbClr val="30C0D8"/>
          </a:solidFill>
          <a:ln w="12700">
            <a:solidFill>
              <a:srgbClr val="30C0D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998" y="23829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97180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Dar de alta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41248" y="3364992"/>
            <a:ext cx="22128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 la empresa y se añaden los clientes con los que se trabaja.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01568" y="1920240"/>
            <a:ext cx="2615184" cy="3200400"/>
          </a:xfrm>
          <a:prstGeom prst="roundRect">
            <a:avLst>
              <a:gd name="adj" fmla="val 4895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52400" dist="38100" dir="5400000">
              <a:srgbClr val="8494B5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34840" y="2240280"/>
            <a:ext cx="548640" cy="548640"/>
          </a:xfrm>
          <a:prstGeom prst="ellipse">
            <a:avLst/>
          </a:prstGeom>
          <a:solidFill>
            <a:srgbClr val="30C0D8"/>
          </a:solidFill>
          <a:ln w="12700">
            <a:solidFill>
              <a:srgbClr val="30C0D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7486" y="238292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02736" y="297180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Archivar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602736" y="3364992"/>
            <a:ext cx="22128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sube el documento, se indica tipo, importe y fechas, y se guarda en su carpeta.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63056" y="1920240"/>
            <a:ext cx="2615184" cy="3200400"/>
          </a:xfrm>
          <a:prstGeom prst="roundRect">
            <a:avLst>
              <a:gd name="adj" fmla="val 4895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52400" dist="38100" dir="5400000">
              <a:srgbClr val="8494B5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96328" y="2240280"/>
            <a:ext cx="548640" cy="548640"/>
          </a:xfrm>
          <a:prstGeom prst="ellipse">
            <a:avLst/>
          </a:prstGeom>
          <a:solidFill>
            <a:srgbClr val="30C0D8"/>
          </a:solidFill>
          <a:ln w="12700">
            <a:solidFill>
              <a:srgbClr val="30C0D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974" y="238292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64224" y="297180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Encontrar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364224" y="3364992"/>
            <a:ext cx="22128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Buscador con filtros por tipo, estado, fechas e importe. Y carpetas por ejercicio o cliente.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924544" y="1920240"/>
            <a:ext cx="2615184" cy="3200400"/>
          </a:xfrm>
          <a:prstGeom prst="roundRect">
            <a:avLst>
              <a:gd name="adj" fmla="val 4895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52400" dist="38100" dir="5400000">
              <a:srgbClr val="8494B5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957816" y="2240280"/>
            <a:ext cx="548640" cy="548640"/>
          </a:xfrm>
          <a:prstGeom prst="ellipse">
            <a:avLst/>
          </a:prstGeom>
          <a:solidFill>
            <a:srgbClr val="30C0D8"/>
          </a:solidFill>
          <a:ln w="12700">
            <a:solidFill>
              <a:srgbClr val="30C0D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0462" y="238292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25712" y="297180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Facturar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125712" y="3364992"/>
            <a:ext cx="22128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emite la factura, se genera su PDF y queda archivada automáticamente.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flujo existe igual en la web y en el móvil. La diferencia es el momento de uso: el móvil para capturar en el sitio, la web para revisar y cerrar.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incluye la aplicación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15184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52400" dist="38100" dir="5400000">
              <a:srgbClr val="8494B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2020824"/>
            <a:ext cx="475488" cy="475488"/>
          </a:xfrm>
          <a:prstGeom prst="ellipse">
            <a:avLst/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451" y="2144451"/>
            <a:ext cx="228234" cy="2282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77824" y="260604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principal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77824" y="2916936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ingresos, vencimientos y actividad reciente.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01568" y="1783080"/>
            <a:ext cx="2615184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52400" dist="38100" dir="5400000">
              <a:srgbClr val="8494B5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39312" y="2020824"/>
            <a:ext cx="475488" cy="475488"/>
          </a:xfrm>
          <a:prstGeom prst="ellipse">
            <a:avLst/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939" y="2144451"/>
            <a:ext cx="228234" cy="2282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9312" y="260604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639312" y="2916936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documentos, organizados en carpetas.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63056" y="1783080"/>
            <a:ext cx="2615184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52400" dist="38100" dir="5400000">
              <a:srgbClr val="8494B5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0" y="2020824"/>
            <a:ext cx="475488" cy="475488"/>
          </a:xfrm>
          <a:prstGeom prst="ellipse">
            <a:avLst/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427" y="2144451"/>
            <a:ext cx="228234" cy="22823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60604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Buscador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400800" y="2916936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tipo, estado, fechas e importe.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924544" y="1783080"/>
            <a:ext cx="2615184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52400" dist="38100" dir="5400000">
              <a:srgbClr val="8494B5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62288" y="2020824"/>
            <a:ext cx="475488" cy="475488"/>
          </a:xfrm>
          <a:prstGeom prst="ellipse">
            <a:avLst/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5915" y="2144451"/>
            <a:ext cx="228234" cy="22823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62288" y="260604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162288" y="2916936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 con CIF, dirección y datos fiscales.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40080" y="3904488"/>
            <a:ext cx="2615184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52400" dist="38100" dir="5400000">
              <a:srgbClr val="8494B5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77824" y="4142232"/>
            <a:ext cx="475488" cy="475488"/>
          </a:xfrm>
          <a:prstGeom prst="ellipse">
            <a:avLst/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451" y="4265859"/>
            <a:ext cx="228234" cy="22823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77824" y="472744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877824" y="5038344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con precio, IVA y control de stock.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3401568" y="3904488"/>
            <a:ext cx="2615184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52400" dist="38100" dir="5400000">
              <a:srgbClr val="8494B5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639312" y="4142232"/>
            <a:ext cx="475488" cy="475488"/>
          </a:xfrm>
          <a:prstGeom prst="ellipse">
            <a:avLst/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2939" y="4265859"/>
            <a:ext cx="228234" cy="22823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639312" y="472744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3639312" y="5038344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envían en PDF y se convierten en factura.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6163056" y="3904488"/>
            <a:ext cx="2615184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52400" dist="38100" dir="5400000">
              <a:srgbClr val="8494B5">
                <a:alpha val="1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400800" y="4142232"/>
            <a:ext cx="475488" cy="475488"/>
          </a:xfrm>
          <a:prstGeom prst="ellipse">
            <a:avLst/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427" y="4265859"/>
            <a:ext cx="228234" cy="22823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400800" y="472744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6400800" y="5038344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Emisión conforme a Veri*Factu, con QR y huella.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8924544" y="3904488"/>
            <a:ext cx="2615184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52400" dist="38100" dir="5400000">
              <a:srgbClr val="8494B5">
                <a:alpha val="18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162288" y="4142232"/>
            <a:ext cx="475488" cy="475488"/>
          </a:xfrm>
          <a:prstGeom prst="ellipse">
            <a:avLst/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5915" y="4265859"/>
            <a:ext cx="228234" cy="22823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162288" y="472744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y permisos</a:t>
            </a:r>
            <a:endParaRPr lang="en-US" sz="1350" dirty="0"/>
          </a:p>
        </p:txBody>
      </p:sp>
      <p:sp>
        <p:nvSpPr>
          <p:cNvPr id="43" name="Text 33"/>
          <p:cNvSpPr/>
          <p:nvPr/>
        </p:nvSpPr>
        <p:spPr>
          <a:xfrm>
            <a:off x="9162288" y="5038344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acceso por cliente y por carpeta.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4937760" cy="4937760"/>
          </a:xfrm>
          <a:prstGeom prst="ellipse">
            <a:avLst/>
          </a:prstGeom>
          <a:solidFill>
            <a:srgbClr val="1B2450"/>
          </a:solidFill>
          <a:ln w="12700">
            <a:solidFill>
              <a:srgbClr val="1B24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NORMATIVO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Facturación preparada para Veri*Factu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factura emitida se registra siguiendo la especificación técnica de la Agencia Tributaria: numeración correlativa sin huecos, huella digital encadenada a la factura anterior y código QR de cotejo.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30C0D8"/>
          </a:solidFill>
          <a:ln w="12700">
            <a:solidFill>
              <a:srgbClr val="30C0D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331927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98448" y="318211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Inalterable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98448" y="34747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factura emitida no se puede modificar ni borrar.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30C0D8"/>
          </a:solidFill>
          <a:ln w="12700">
            <a:solidFill>
              <a:srgbClr val="30C0D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42336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98448" y="409651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Encadenada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298448" y="43891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factura firma la anterior: la cadena delata cualquier manipulación.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5029200"/>
            <a:ext cx="457200" cy="457200"/>
          </a:xfrm>
          <a:prstGeom prst="ellipse">
            <a:avLst/>
          </a:prstGeom>
          <a:solidFill>
            <a:srgbClr val="30C0D8"/>
          </a:solidFill>
          <a:ln w="12700">
            <a:solidFill>
              <a:srgbClr val="30C0D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514807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98448" y="501091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Rectificativas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298448" y="5303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anular se emite una nota de crédito, como exige la norma.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7772400" y="1874520"/>
            <a:ext cx="3794760" cy="3794760"/>
          </a:xfrm>
          <a:prstGeom prst="roundRect">
            <a:avLst>
              <a:gd name="adj" fmla="val 3373"/>
            </a:avLst>
          </a:prstGeom>
          <a:solidFill>
            <a:srgbClr val="1B2450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52400" dist="38100" dir="5400000">
              <a:srgbClr val="8494B5">
                <a:alpha val="18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2194560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092440" y="27249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importante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8092440" y="3127248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genera los registros, la huella y el QR conforme a la especificación.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envío automático en tiempo real a la Agencia Tributaria es una fase posterior, todavía no activa.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Conviene no comunicarlo como “envío a Hacienda”.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PERMISOS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Quién puede ver qué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permisos se conceden por cliente y por carpeta, y se aplican en el servidor: no son solo un aviso en pantalla.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52044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52400" dist="38100" dir="5400000">
              <a:srgbClr val="8494B5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359152"/>
            <a:ext cx="502920" cy="502920"/>
          </a:xfrm>
          <a:prstGeom prst="ellipse">
            <a:avLst/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871" y="2489911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017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Propietario y administrador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96112" y="33101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total: usuarios, clientes, facturación e inventario.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52544" y="2103120"/>
            <a:ext cx="352044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52400" dist="38100" dir="5400000">
              <a:srgbClr val="8494B5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08576" y="2359152"/>
            <a:ext cx="502920" cy="502920"/>
          </a:xfrm>
          <a:prstGeom prst="ellipse">
            <a:avLst/>
          </a:prstGeom>
          <a:solidFill>
            <a:srgbClr val="2FA37C"/>
          </a:solidFill>
          <a:ln w="12700">
            <a:solidFill>
              <a:srgbClr val="2FA37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335" y="2489911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08576" y="3017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Miembro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608576" y="33101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 solo con los clientes y carpetas que se le asignen.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65008" y="2103120"/>
            <a:ext cx="352044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52400" dist="38100" dir="5400000">
              <a:srgbClr val="8494B5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21040" y="2359152"/>
            <a:ext cx="502920" cy="502920"/>
          </a:xfrm>
          <a:prstGeom prst="ellipse">
            <a:avLst/>
          </a:prstGeom>
          <a:solidFill>
            <a:srgbClr val="E08A2B"/>
          </a:solidFill>
          <a:ln w="12700">
            <a:solidFill>
              <a:srgbClr val="E08A2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1799" y="2489911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1040" y="3017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Visor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321040" y="33101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consulta y descarga. No puede subir, editar ni eliminar nada.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" y="4206240"/>
            <a:ext cx="10908792" cy="1691640"/>
          </a:xfrm>
          <a:prstGeom prst="roundRect">
            <a:avLst>
              <a:gd name="adj" fmla="val 7568"/>
            </a:avLst>
          </a:prstGeom>
          <a:solidFill>
            <a:srgbClr val="0E1633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52400" dist="38100" dir="5400000">
              <a:srgbClr val="8494B5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05840" y="4617720"/>
            <a:ext cx="566928" cy="566928"/>
          </a:xfrm>
          <a:prstGeom prst="ellipse">
            <a:avLst/>
          </a:prstGeom>
          <a:solidFill>
            <a:srgbClr val="30C0D8"/>
          </a:solidFill>
          <a:ln w="12700">
            <a:solidFill>
              <a:srgbClr val="30C0D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241" y="4765121"/>
            <a:ext cx="272125" cy="2721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737360" y="4526280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que mejor se explica: dar acceso a la gestoría o a Hacienda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737360" y="4901184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 un usuario “Visor”, se le asigna únicamente la carpeta del ejercicio que debe revisar, y verá exactamente eso: ni un documento más, sin posibilidad de tocar nada. Se le retira el acceso cuando termina.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COMERCIAL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15184" cy="3291840"/>
          </a:xfrm>
          <a:prstGeom prst="roundRect">
            <a:avLst>
              <a:gd name="adj" fmla="val 4895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52400" dist="38100" dir="5400000">
              <a:srgbClr val="8494B5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7824" y="208483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77824" y="243230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0 €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77824" y="296265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siempre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77824" y="3401568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usuario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cliente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documentos/año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 GB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01568" y="1828800"/>
            <a:ext cx="2615184" cy="3291840"/>
          </a:xfrm>
          <a:prstGeom prst="roundRect">
            <a:avLst>
              <a:gd name="adj" fmla="val 4895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52400" dist="38100" dir="5400000">
              <a:srgbClr val="8494B5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39312" y="208483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39312" y="243230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14,99 €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639312" y="296265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39312" y="3401568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usuarios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clientes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documentos/año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 GB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63056" y="1828800"/>
            <a:ext cx="2615184" cy="3291840"/>
          </a:xfrm>
          <a:prstGeom prst="roundRect">
            <a:avLst>
              <a:gd name="adj" fmla="val 4895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52400" dist="38100" dir="5400000">
              <a:srgbClr val="8494B5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208483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243230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19,99 €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400800" y="296265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0" y="3401568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usuarios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clientes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2.400 documentos/año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 GB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24544" y="1828800"/>
            <a:ext cx="2615184" cy="3291840"/>
          </a:xfrm>
          <a:prstGeom prst="roundRect">
            <a:avLst>
              <a:gd name="adj" fmla="val 4895"/>
            </a:avLst>
          </a:prstGeom>
          <a:solidFill>
            <a:srgbClr val="0E1633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52400" dist="38100" dir="5400000">
              <a:srgbClr val="8494B5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62288" y="208483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62288" y="243230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24,99 €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162288" y="296265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62288" y="3401568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F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usuarios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F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clientes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F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5.400 documentos/año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F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10,8 GB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53492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Ampliaciones sueltas: bono de 250 documentos por 4,99 € (pago único) y usuario adicional por 4,99 €/mes.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574243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 gratuito no caduca y no pide tarjeta: es la puerta de entrada natural para la captación.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REAL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está cada plataforma hoy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08792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52400" dist="38100" dir="5400000">
              <a:srgbClr val="8494B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0976" y="2048256"/>
            <a:ext cx="585216" cy="585216"/>
          </a:xfrm>
          <a:prstGeom prst="ellipse">
            <a:avLst/>
          </a:prstGeom>
          <a:solidFill>
            <a:srgbClr val="2FA37C"/>
          </a:solidFill>
          <a:ln w="12700">
            <a:solidFill>
              <a:srgbClr val="2FA37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132" y="2200412"/>
            <a:ext cx="280904" cy="280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9339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3703320" y="2011680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2FA37C"/>
          </a:solidFill>
          <a:ln w="12700">
            <a:solidFill>
              <a:srgbClr val="2FA37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03320" y="201168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737360" y="239572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y en uso en archivum.es. Es la versión más completa.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3108960"/>
            <a:ext cx="10908792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52400" dist="38100" dir="5400000">
              <a:srgbClr val="8494B5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50976" y="3419856"/>
            <a:ext cx="585216" cy="585216"/>
          </a:xfrm>
          <a:prstGeom prst="ellipse">
            <a:avLst/>
          </a:prstGeom>
          <a:solidFill>
            <a:srgbClr val="E08A2B"/>
          </a:solidFill>
          <a:ln w="12700">
            <a:solidFill>
              <a:srgbClr val="E08A2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132" y="3572012"/>
            <a:ext cx="280904" cy="2809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37360" y="336499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Android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3703320" y="3383280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E08A2B"/>
          </a:solidFill>
          <a:ln w="12700">
            <a:solidFill>
              <a:srgbClr val="E08A2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703320" y="338328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pruebas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737360" y="376732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funcionando, distribuida a probadores. Aún no publicada en Google Play.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40080" y="4480560"/>
            <a:ext cx="10908792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52400" dist="38100" dir="5400000">
              <a:srgbClr val="8494B5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50976" y="4791456"/>
            <a:ext cx="585216" cy="585216"/>
          </a:xfrm>
          <a:prstGeom prst="ellipse">
            <a:avLst/>
          </a:prstGeom>
          <a:solidFill>
            <a:srgbClr val="C2456A"/>
          </a:solidFill>
          <a:ln w="12700">
            <a:solidFill>
              <a:srgbClr val="C2456A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132" y="4943612"/>
            <a:ext cx="280904" cy="28090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737360" y="473659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iOS</a:t>
            </a:r>
            <a:endParaRPr lang="en-US" sz="1900" dirty="0"/>
          </a:p>
        </p:txBody>
      </p:sp>
      <p:sp>
        <p:nvSpPr>
          <p:cNvPr id="22" name="Shape 17"/>
          <p:cNvSpPr/>
          <p:nvPr/>
        </p:nvSpPr>
        <p:spPr>
          <a:xfrm>
            <a:off x="3703320" y="4754880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C2456A"/>
          </a:solidFill>
          <a:ln w="12700">
            <a:solidFill>
              <a:srgbClr val="C2456A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703320" y="475488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Lista, sin publicar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1737360" y="513892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Compilada y revisada. Falta la cuenta de desarrollador de Apple para TestFlight y App Store.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comunicación: la web se puede enseñar y vender hoy. Las apps conviene anunciarlas como “próximamente” hasta que estén publicadas en las tiendas.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6035040" cy="6035040"/>
          </a:xfrm>
          <a:prstGeom prst="ellipse">
            <a:avLst/>
          </a:prstGeom>
          <a:solidFill>
            <a:srgbClr val="1B2450"/>
          </a:solidFill>
          <a:ln w="12700">
            <a:solidFill>
              <a:srgbClr val="1B2450"/>
            </a:solidFill>
            <a:prstDash val="solid"/>
          </a:ln>
        </p:spPr>
      </p:sp>
      <p:pic>
        <p:nvPicPr>
          <p:cNvPr id="3" name="Image 0" descr="/home/user/Archivum_Invoice/apps/web/public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8368"/>
            <a:ext cx="77724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691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Ideas para la comunicación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640080" y="2697480"/>
            <a:ext cx="5330952" cy="1371600"/>
          </a:xfrm>
          <a:prstGeom prst="roundRect">
            <a:avLst>
              <a:gd name="adj" fmla="val 9333"/>
            </a:avLst>
          </a:prstGeom>
          <a:solidFill>
            <a:srgbClr val="1B2450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52400" dist="38100" dir="5400000">
              <a:srgbClr val="8494B5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96112" y="2953512"/>
            <a:ext cx="457200" cy="457200"/>
          </a:xfrm>
          <a:prstGeom prst="ellipse">
            <a:avLst/>
          </a:prstGeom>
          <a:solidFill>
            <a:srgbClr val="30C0D8"/>
          </a:solidFill>
          <a:ln w="12700">
            <a:solidFill>
              <a:srgbClr val="30C0D8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3072384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292608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“Del trimestre a los cinco minutos”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508760" y="3300984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F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ahorro de tiempo al buscar es el beneficio más tangible.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217920" y="2697480"/>
            <a:ext cx="5330952" cy="1371600"/>
          </a:xfrm>
          <a:prstGeom prst="roundRect">
            <a:avLst>
              <a:gd name="adj" fmla="val 9333"/>
            </a:avLst>
          </a:prstGeom>
          <a:solidFill>
            <a:srgbClr val="1B2450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52400" dist="38100" dir="5400000">
              <a:srgbClr val="8494B5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473952" y="2953512"/>
            <a:ext cx="457200" cy="457200"/>
          </a:xfrm>
          <a:prstGeom prst="ellipse">
            <a:avLst/>
          </a:prstGeom>
          <a:solidFill>
            <a:srgbClr val="30C0D8"/>
          </a:solidFill>
          <a:ln w="12700">
            <a:solidFill>
              <a:srgbClr val="30C0D8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3072384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86600" y="292608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“Preparado para la nueva normativa”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7086600" y="3300984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F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Veri*Factu preocupa hoy a autónomos y pymes en España.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40080" y="4297680"/>
            <a:ext cx="5330952" cy="1371600"/>
          </a:xfrm>
          <a:prstGeom prst="roundRect">
            <a:avLst>
              <a:gd name="adj" fmla="val 9333"/>
            </a:avLst>
          </a:prstGeom>
          <a:solidFill>
            <a:srgbClr val="1B2450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52400" dist="38100" dir="5400000">
              <a:srgbClr val="8494B5">
                <a:alpha val="1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96112" y="4553712"/>
            <a:ext cx="457200" cy="457200"/>
          </a:xfrm>
          <a:prstGeom prst="ellipse">
            <a:avLst/>
          </a:prstGeom>
          <a:solidFill>
            <a:srgbClr val="30C0D8"/>
          </a:solidFill>
          <a:ln w="12700">
            <a:solidFill>
              <a:srgbClr val="30C0D8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672584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452628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“Dale acceso a tu gestor, solo a lo suyo”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508760" y="4901184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F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caso concreto y fácil de contar en vídeo.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217920" y="4297680"/>
            <a:ext cx="5330952" cy="1371600"/>
          </a:xfrm>
          <a:prstGeom prst="roundRect">
            <a:avLst>
              <a:gd name="adj" fmla="val 9333"/>
            </a:avLst>
          </a:prstGeom>
          <a:solidFill>
            <a:srgbClr val="1B2450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52400" dist="38100" dir="5400000">
              <a:srgbClr val="8494B5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473952" y="4553712"/>
            <a:ext cx="457200" cy="457200"/>
          </a:xfrm>
          <a:prstGeom prst="ellipse">
            <a:avLst/>
          </a:prstGeom>
          <a:solidFill>
            <a:srgbClr val="30C0D8"/>
          </a:solidFill>
          <a:ln w="12700">
            <a:solidFill>
              <a:srgbClr val="30C0D8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4" y="4672584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086600" y="452628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“Archiva la factura antes de salir del bar”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7086600" y="4901184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F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captura en movilidad es lo que diferencia del Drive.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640080" y="60533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archivum.es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Archivum — Web y móvil</dc:title>
  <dc:subject>PptxGenJS Presentation</dc:subject>
  <dc:creator>Archivum</dc:creator>
  <cp:lastModifiedBy>Archivum</cp:lastModifiedBy>
  <cp:revision>1</cp:revision>
  <dcterms:created xsi:type="dcterms:W3CDTF">2026-08-03T12:45:32Z</dcterms:created>
  <dcterms:modified xsi:type="dcterms:W3CDTF">2026-08-03T12:45:32Z</dcterms:modified>
</cp:coreProperties>
</file>